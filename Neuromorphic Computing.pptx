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1" r:id="rId16"/>
    <p:sldId id="273" r:id="rId17"/>
    <p:sldId id="274" r:id="rId18"/>
    <p:sldId id="275" r:id="rId19"/>
    <p:sldId id="27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B4D9-DE5F-40B9-7666-8954E1AAF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ACADE-9E91-36D7-BEA9-B14D825F5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1C9EB-FDBB-88EA-ED19-8E81D942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A59BD-AF8A-46AF-BDE8-F1C4713B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8F889-2344-20F1-F4D4-AEA73311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3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D1ECB-F6A0-8CE0-5D42-A69C1976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B174D-9EB7-0EAE-6E30-41A5EEBB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57108-3125-B1D4-540F-97A8554D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ACFC3-004D-B975-314E-DC4F85BA5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DB815-4858-640C-C9A8-91FB0D44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350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8A8F-48BE-9234-4138-F16BCD1B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E767B-7E1C-D8E0-1293-BB0D37386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04746-1219-461F-0BEF-3280BAA2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E1E72-9554-4F0F-01E7-AD6E5BFD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904F8-DA7D-4D52-83AF-C6A579CD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66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8006F-EA00-447A-AD9A-F569B9CC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5D7A-2161-0240-829C-4BBCA28F3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D09677-DA8D-4CEB-F102-FFB34C2F4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1D6A2-FA50-A5B3-6E50-B03AA92E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3710D-69DF-8393-3DC9-7DFF9B62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E694E-59C3-FD2C-BBA5-2F290C68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21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39BAB-50EC-9DBB-8976-F67BF8F4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9A5E7-1A08-0B40-9C56-783C1FF13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ED3BE-92F0-FB25-97E8-666824947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6E9CF-E393-1554-1360-8002FFEC9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66C463-8B98-02C9-521E-30958E23A6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330C6E-FA2A-27AB-B124-40E83EAF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8761E-A347-B321-F0DA-229A0819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23045-ED90-D2F1-3B88-239142BCE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45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8481-46A6-C797-8ECB-21DDC4CC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26569-E811-9FEF-5845-C479F0C8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AFDB3-2171-5F4E-2F57-8AA48E987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A3B81-24BC-FC81-85E7-BEF881A00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23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D1CDAB-CEC6-5CA5-206B-B6E87ADF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1A139E-F347-D55C-0E70-B2D0A03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5E9A5-75BE-47C9-3FE6-835712A6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3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3F357-C34F-B2E7-068A-B8DB3D9E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1C97F-EA2F-D2AD-2719-575D3654B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40CE5-46A1-7DA4-FD82-7508CCDC11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2BC38-D296-1581-186B-2CC3F6D4D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F3B3C-957E-029E-B323-DDA901B7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D03FA-6BDB-9FF5-CB7A-176DE063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502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4BA36-C565-6B89-ACDD-C7D27238E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A8C685-3AA2-1C8B-1E30-860E51B47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B04E5-C670-79FB-5F22-00FDDFBE8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9F0A8-3050-C369-31A0-3C069A42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426E1-EF9C-3B4D-16C3-D1844EE2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1F143-06A1-D414-8856-0215363B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43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E3A4-7151-635F-8C0F-B8E93CE8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F9BBC-2DCA-D3BC-E775-C09E0D5B3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83E61-5485-7FF4-0333-3ADD4AC6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5FE2C-8CEB-DC56-75AF-2C5C09A0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A4308-C494-6048-835D-C59726493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40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72BC09-A80F-DF7F-9B40-6101BD92A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B70FD-10B0-BE8F-310B-FFA3B2B31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913C-9ABD-5EBC-06AF-40FC2CE3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50AD5-BEB9-AE9C-0D2D-6F187A7E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87183-D0EE-1EBC-DB96-9C219C81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014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2F9DE-7063-015A-CCF6-E2FC948F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2A6E6-A36F-28D0-AEA9-94559F88A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06AC9-98E2-C78B-7E78-3AE37C85B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699F3-33AD-4ED4-8A28-3C95F73EBB24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E9459-E770-F1AB-FFB4-7E901D45E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69F89-D862-FF29-C7C7-C2814657B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009D4-6400-4218-8C26-8D50669FD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09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B6AD-AEB2-BB30-C6E9-3CCE4E8B2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14240"/>
            <a:ext cx="12192000" cy="2143760"/>
          </a:xfrm>
          <a:solidFill>
            <a:schemeClr val="tx1">
              <a:alpha val="55000"/>
            </a:schemeClr>
          </a:solidFill>
        </p:spPr>
        <p:txBody>
          <a:bodyPr anchor="ctr" anchorCtr="0"/>
          <a:lstStyle/>
          <a:p>
            <a:r>
              <a:rPr lang="en-US" b="1" dirty="0">
                <a:solidFill>
                  <a:schemeClr val="bg1"/>
                </a:solidFill>
              </a:rPr>
              <a:t>Neuromorphic Computing: An In-Depth Exploration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27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46EF-4CC4-24CC-1908-880F7C07C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98000"/>
            <a:ext cx="12192000" cy="1260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Introduction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2696848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36E6E-E323-7502-FA3A-DC708544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300" y="547052"/>
            <a:ext cx="10947400" cy="5763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Neuromorphic Computing: A New Paradigm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Definition</a:t>
            </a:r>
            <a:r>
              <a:rPr lang="en-US" sz="2400" dirty="0"/>
              <a:t>: Neuromorphic computing aims to mimic the structure and functions of biological neural systems to create more brain-like, efficient computing architectures.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Relevance</a:t>
            </a:r>
            <a:r>
              <a:rPr lang="en-US" sz="24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Addresses limitations of traditional computing, particularly as Moore's Law approaches physical limits.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Offers solutions for </a:t>
            </a:r>
            <a:r>
              <a:rPr lang="en-US" sz="2000" b="1" dirty="0"/>
              <a:t>energy efficiency</a:t>
            </a:r>
            <a:r>
              <a:rPr lang="en-US" sz="2000" dirty="0"/>
              <a:t> and </a:t>
            </a:r>
            <a:r>
              <a:rPr lang="en-US" sz="2000" b="1" dirty="0"/>
              <a:t>adaptive learning</a:t>
            </a:r>
            <a:r>
              <a:rPr lang="en-US" sz="2000" dirty="0"/>
              <a:t> needed in </a:t>
            </a:r>
            <a:r>
              <a:rPr lang="en-US" sz="2000" b="1" dirty="0"/>
              <a:t>AI</a:t>
            </a:r>
            <a:r>
              <a:rPr lang="en-US" sz="2000" dirty="0"/>
              <a:t> and </a:t>
            </a:r>
            <a:r>
              <a:rPr lang="en-US" sz="2000" b="1" dirty="0"/>
              <a:t>machine learning</a:t>
            </a:r>
            <a:r>
              <a:rPr lang="en-US" sz="2000" dirty="0"/>
              <a:t>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Key Drivers</a:t>
            </a:r>
            <a:r>
              <a:rPr lang="en-US" sz="24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Growing demand for high-efficiency, low-power computing, especially in </a:t>
            </a:r>
            <a:r>
              <a:rPr lang="en-US" sz="2000" b="1" dirty="0"/>
              <a:t>AI-driven</a:t>
            </a:r>
            <a:r>
              <a:rPr lang="en-US" sz="2000" dirty="0"/>
              <a:t> tasks.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Interest in systems that can perform real-time data processing and sensory integration, as biological brains do​.</a:t>
            </a:r>
          </a:p>
        </p:txBody>
      </p:sp>
    </p:spTree>
    <p:extLst>
      <p:ext uri="{BB962C8B-B14F-4D97-AF65-F5344CB8AC3E}">
        <p14:creationId xmlns:p14="http://schemas.microsoft.com/office/powerpoint/2010/main" val="336422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AEFCF-B0E3-D5D3-AE32-52EF0D025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279"/>
            <a:ext cx="10515600" cy="406384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Motivation and Goals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Why It Matters</a:t>
            </a:r>
            <a:r>
              <a:rPr lang="en-US" sz="24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Traditional architectures struggle with energy demands and scalability for complex tasks.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Neuromorphic computing could revolutionize fields requiring </a:t>
            </a:r>
            <a:r>
              <a:rPr lang="en-US" sz="2000" b="1" dirty="0"/>
              <a:t>real-time, adaptive</a:t>
            </a:r>
            <a:r>
              <a:rPr lang="en-US" sz="2000" dirty="0"/>
              <a:t> processing like robotics, IoT, and brain-computer interfaces.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Goal of Neuromorphic Computing</a:t>
            </a:r>
            <a:r>
              <a:rPr lang="en-US" sz="2400" dirty="0"/>
              <a:t>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/>
              <a:t>To create systems capable of </a:t>
            </a:r>
            <a:r>
              <a:rPr lang="en-US" sz="2000" b="1" dirty="0"/>
              <a:t>massive parallel processing</a:t>
            </a:r>
            <a:r>
              <a:rPr lang="en-US" sz="2000" dirty="0"/>
              <a:t> and </a:t>
            </a:r>
            <a:r>
              <a:rPr lang="en-US" sz="2000" b="1" dirty="0"/>
              <a:t>self-learning</a:t>
            </a:r>
            <a:r>
              <a:rPr lang="en-US" sz="2000" dirty="0"/>
              <a:t> similar to human brains, potentially opening new frontiers in computing power and application diversity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7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A2EFD-EB63-90EE-2BC2-02EDDDA9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2842F-7648-01DF-D9C9-6E3447BEC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0320"/>
            <a:ext cx="12192000" cy="175768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Historical Context and Theoretical Foundations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05843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27391-7E6F-00BB-AB4E-11CD96246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3266"/>
            <a:ext cx="10515600" cy="53914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Origins of Neuromorphic Computing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Concept Introduced</a:t>
            </a:r>
            <a:r>
              <a:rPr lang="en-US" sz="24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b="1" dirty="0"/>
              <a:t>Carver Mead</a:t>
            </a:r>
            <a:r>
              <a:rPr lang="en-US" sz="2000" dirty="0"/>
              <a:t> (1980s): Proposed neuromorphic computing, envisioning Very-Large-Scale Integration (VLSI) systems that mimic biological neural networks.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Inspired by the brain's structure to create systems that </a:t>
            </a:r>
            <a:r>
              <a:rPr lang="en-US" sz="2000" b="1" dirty="0"/>
              <a:t>process information in a massively parallel, energy-efficient manner</a:t>
            </a:r>
            <a:r>
              <a:rPr lang="en-US" sz="2000" dirty="0"/>
              <a:t>.</a:t>
            </a:r>
          </a:p>
          <a:p>
            <a:pPr marL="457200" lvl="1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b="1" dirty="0"/>
              <a:t>Theoretical Foundations from Neuroscience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Neuron Doctrine</a:t>
            </a:r>
            <a:r>
              <a:rPr lang="en-US" sz="2400" dirty="0"/>
              <a:t> (Santiago Ramón y </a:t>
            </a:r>
            <a:r>
              <a:rPr lang="en-US" sz="2400" dirty="0" err="1"/>
              <a:t>Cajal</a:t>
            </a:r>
            <a:r>
              <a:rPr lang="en-US" sz="24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Established that the brain is composed of individual neurons that communicate through synapses.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This understanding serves as a basis for modeling interconnected, spiking neurons in neuromorphic systems​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29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EF4B-8B3D-6B33-F4ED-7D842332E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998"/>
            <a:ext cx="10515600" cy="586200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Significance of Neuromorphic Foundations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Shift from Traditional Computing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Traditional computing relies on von Neumann architecture, with separate memory and processing units, causing potential bottlenecks.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Neuromorphic systems integrate memory and processing, inspired by </a:t>
            </a:r>
            <a:r>
              <a:rPr lang="en-US" sz="2000" b="1" dirty="0"/>
              <a:t>biological efficiency</a:t>
            </a:r>
            <a:r>
              <a:rPr lang="en-US" sz="2000" dirty="0"/>
              <a:t>, allowing </a:t>
            </a:r>
            <a:r>
              <a:rPr lang="en-US" sz="2000" b="1" dirty="0"/>
              <a:t>asynchronous and event-driven</a:t>
            </a:r>
            <a:r>
              <a:rPr lang="en-US" sz="2000" dirty="0"/>
              <a:t> processing that reduces power usage and improves speed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61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CD773-B95A-1B2F-77CB-A2937F71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6B92E-D8EA-BA2E-5E02-BF90276D4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0320"/>
            <a:ext cx="12192000" cy="175768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Principles of Neuromorphic Computing</a:t>
            </a:r>
            <a:endParaRPr lang="en-IN" sz="13800" b="1" dirty="0"/>
          </a:p>
        </p:txBody>
      </p:sp>
    </p:spTree>
    <p:extLst>
      <p:ext uri="{BB962C8B-B14F-4D97-AF65-F5344CB8AC3E}">
        <p14:creationId xmlns:p14="http://schemas.microsoft.com/office/powerpoint/2010/main" val="239078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1A55B-519F-CA7A-D4F4-74A559D5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760"/>
            <a:ext cx="10515600" cy="63804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Biological Inspirations</a:t>
            </a:r>
            <a:endParaRPr lang="en-US" b="1" dirty="0"/>
          </a:p>
          <a:p>
            <a:pPr marL="0" indent="0">
              <a:buNone/>
            </a:pPr>
            <a:r>
              <a:rPr lang="en-US" sz="2400" b="1" dirty="0"/>
              <a:t>1. Massive Parallelism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Human Brain Model</a:t>
            </a:r>
            <a:r>
              <a:rPr lang="en-US" sz="2400" dirty="0"/>
              <a:t>: The brain operates with approximately </a:t>
            </a:r>
            <a:r>
              <a:rPr lang="en-US" sz="2400" b="1" dirty="0"/>
              <a:t>86 billion neurons</a:t>
            </a:r>
            <a:r>
              <a:rPr lang="en-US" sz="2400" dirty="0"/>
              <a:t>, each connected to thousands of others, which enables highly efficient, simultaneous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Parallel Processing</a:t>
            </a:r>
            <a:r>
              <a:rPr lang="en-US" sz="2400" dirty="0"/>
              <a:t>: Neuromorphic systems aim to replicate this ability, processing multiple streams of information concurrently rather than sequentially, as in traditional computing.</a:t>
            </a:r>
          </a:p>
          <a:p>
            <a:pPr marL="0" indent="0">
              <a:buNone/>
            </a:pPr>
            <a:r>
              <a:rPr lang="en-US" sz="2400" b="1" dirty="0"/>
              <a:t>2. Low Power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Brain Efficiency</a:t>
            </a:r>
            <a:r>
              <a:rPr lang="en-US" sz="2400" dirty="0"/>
              <a:t>: The human brain uses only about </a:t>
            </a:r>
            <a:r>
              <a:rPr lang="en-US" sz="2400" b="1" dirty="0"/>
              <a:t>20 watts of power</a:t>
            </a:r>
            <a:r>
              <a:rPr lang="en-US" sz="2400" dirty="0"/>
              <a:t> to perform complex tasks, an efficiency level far beyond that of current digital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Neuromorphic Goal</a:t>
            </a:r>
            <a:r>
              <a:rPr lang="en-US" sz="2400" dirty="0"/>
              <a:t>: Neuromorphic computing seeks to emulate this low power usage by optimizing for event-driven and asynchronous processing, which means computing only when necessary.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537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BB92-07E2-A72B-B6D0-947E9CA94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8393"/>
            <a:ext cx="10515600" cy="63212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Core Characteristics of Neuromorphic Systems</a:t>
            </a:r>
          </a:p>
          <a:p>
            <a:pPr marL="0" indent="0" algn="just">
              <a:buNone/>
            </a:pPr>
            <a:r>
              <a:rPr lang="en-US" b="1" dirty="0"/>
              <a:t>1. Spiking Neural Networks (SNNs)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Mimicking Biological Neurons</a:t>
            </a:r>
            <a:r>
              <a:rPr lang="en-US" sz="2400" dirty="0"/>
              <a:t>: Unlike traditional artificial neural networks, SNNs transmit information in discrete spikes, similar to the way biological neurons communicate.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Asynchronous Signals</a:t>
            </a:r>
            <a:r>
              <a:rPr lang="en-US" sz="2400" dirty="0"/>
              <a:t>: These spikes represent asynchronous, event-based signals, where information is transmitted only when necessary, improving both </a:t>
            </a:r>
            <a:r>
              <a:rPr lang="en-US" sz="2400" b="1" dirty="0"/>
              <a:t>efficiency and real-time processing</a:t>
            </a:r>
            <a:r>
              <a:rPr lang="en-US" sz="2400" dirty="0"/>
              <a:t>.</a:t>
            </a:r>
          </a:p>
          <a:p>
            <a:pPr marL="0" indent="0" algn="just">
              <a:buNone/>
            </a:pPr>
            <a:r>
              <a:rPr lang="en-US" b="1" dirty="0"/>
              <a:t>2. Event-Driven Processing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Energy-Efficient Processing</a:t>
            </a:r>
            <a:r>
              <a:rPr lang="en-US" sz="2400" dirty="0"/>
              <a:t>: Neuromorphic systems use event-driven architectures, meaning they only process data when triggered by an event (e.g., a sensory input) instead of continuously.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Applications</a:t>
            </a:r>
            <a:r>
              <a:rPr lang="en-US" sz="2400" dirty="0"/>
              <a:t>: This approach reduces power consumption and makes neuromorphic systems ideal for </a:t>
            </a:r>
            <a:r>
              <a:rPr lang="en-US" sz="2400" b="1" dirty="0"/>
              <a:t>real-time applications</a:t>
            </a:r>
            <a:r>
              <a:rPr lang="en-US" sz="2400" dirty="0"/>
              <a:t>, such as robotics and IoT sensors, where energy efficiency is crucial.</a:t>
            </a:r>
          </a:p>
        </p:txBody>
      </p:sp>
    </p:spTree>
    <p:extLst>
      <p:ext uri="{BB962C8B-B14F-4D97-AF65-F5344CB8AC3E}">
        <p14:creationId xmlns:p14="http://schemas.microsoft.com/office/powerpoint/2010/main" val="197304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C41DC-D61A-3DEA-A0A2-D8D3C1DB3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4008"/>
            <a:ext cx="10515600" cy="59899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In-Memory Computing and Its Advantages</a:t>
            </a:r>
          </a:p>
          <a:p>
            <a:pPr marL="0" indent="0">
              <a:buNone/>
            </a:pPr>
            <a:r>
              <a:rPr lang="en-US" b="1" dirty="0"/>
              <a:t>1. Overcoming the von Neumann Bottleneck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Traditional Bottleneck</a:t>
            </a:r>
            <a:r>
              <a:rPr lang="en-US" sz="2400" dirty="0"/>
              <a:t>: Traditional computing architectures separate memory and processing, leading to delays and energy costs as data moves between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In-Memory Processing</a:t>
            </a:r>
            <a:r>
              <a:rPr lang="en-US" sz="2400" dirty="0"/>
              <a:t>: Neuromorphic systems integrate memory and processing units, inspired by the brain’s structure, which allows for faster, more efficient computation by eliminating the need for constant data shuttling.</a:t>
            </a:r>
          </a:p>
          <a:p>
            <a:pPr marL="0" indent="0">
              <a:buNone/>
            </a:pPr>
            <a:r>
              <a:rPr lang="en-US" b="1" dirty="0"/>
              <a:t>2. Real-Time Processing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Immediate Data Handling</a:t>
            </a:r>
            <a:r>
              <a:rPr lang="en-US" sz="2400" dirty="0"/>
              <a:t>: In-memory computing enables neuromorphic systems to process information as soon as it’s received, supporting applications that require quick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Examples</a:t>
            </a:r>
            <a:r>
              <a:rPr lang="en-US" sz="2400" dirty="0"/>
              <a:t>: Real-time object recognition in autonomous vehicles and fast response in robotics.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36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1771-3F72-7116-DBC1-5F08D2864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287"/>
            <a:ext cx="10515600" cy="5645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Advantages Over Traditional Computing</a:t>
            </a:r>
          </a:p>
          <a:p>
            <a:pPr marL="0" indent="0">
              <a:buNone/>
            </a:pPr>
            <a:r>
              <a:rPr lang="en-US" b="1" dirty="0"/>
              <a:t>1. Improved Energy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Lower Power Requirements</a:t>
            </a:r>
            <a:r>
              <a:rPr lang="en-US" sz="2400" dirty="0"/>
              <a:t>: Due to their event-driven nature and in-memory processing, neuromorphic systems use significantly less power than traditional architectures, especially in tasks requiring continuous learning and adaptation.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Sustainability Impact</a:t>
            </a:r>
            <a:r>
              <a:rPr lang="en-US" sz="2400" dirty="0"/>
              <a:t>: Reduced energy consumption has broader applications for sustainable computing, especially in mobile and remote environments.</a:t>
            </a:r>
          </a:p>
          <a:p>
            <a:pPr marL="0" indent="0">
              <a:buNone/>
            </a:pPr>
            <a:r>
              <a:rPr lang="en-US" b="1" dirty="0"/>
              <a:t>2. Adaptive and Real-Time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Enhanced Suitability</a:t>
            </a:r>
            <a:r>
              <a:rPr lang="en-US" sz="2400" dirty="0"/>
              <a:t>: Neuromorphic systems excel in adaptive, real-time applications where data inputs and environments change rapidly.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Examples</a:t>
            </a:r>
            <a:r>
              <a:rPr lang="en-US" sz="2400" dirty="0"/>
              <a:t>: Robotics, sensory processing, and autonomous systems, where neuromorphic architectures provide a clear advantage over traditional, sequential processing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486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FAB7-7A95-2760-52D8-6917C02E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7DCD-B093-89CC-6147-C5E80D4A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83695"/>
            <a:ext cx="12192000" cy="175768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Hardware Implementations and Applications</a:t>
            </a:r>
            <a:endParaRPr lang="en-IN" sz="13800" b="1" dirty="0"/>
          </a:p>
        </p:txBody>
      </p:sp>
    </p:spTree>
    <p:extLst>
      <p:ext uri="{BB962C8B-B14F-4D97-AF65-F5344CB8AC3E}">
        <p14:creationId xmlns:p14="http://schemas.microsoft.com/office/powerpoint/2010/main" val="1069292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B6D14-0C80-1AAD-6C6E-CA919CDAB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4"/>
            <a:ext cx="10515600" cy="6966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Digital Implementations</a:t>
            </a:r>
          </a:p>
          <a:p>
            <a:pPr marL="0" indent="0">
              <a:buNone/>
            </a:pPr>
            <a:r>
              <a:rPr lang="en-US" b="1" dirty="0"/>
              <a:t>1. IBM’s </a:t>
            </a:r>
            <a:r>
              <a:rPr lang="en-US" b="1" dirty="0" err="1"/>
              <a:t>TrueNorth</a:t>
            </a:r>
            <a:r>
              <a:rPr lang="en-US" b="1" dirty="0"/>
              <a:t> Chip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Design</a:t>
            </a:r>
            <a:r>
              <a:rPr lang="en-US" dirty="0"/>
              <a:t>: Contains </a:t>
            </a:r>
            <a:r>
              <a:rPr lang="en-US" b="1" dirty="0"/>
              <a:t>1 million digital neurons</a:t>
            </a:r>
            <a:r>
              <a:rPr lang="en-US" dirty="0"/>
              <a:t> and </a:t>
            </a:r>
            <a:r>
              <a:rPr lang="en-US" b="1" dirty="0"/>
              <a:t>256 million synapses</a:t>
            </a:r>
            <a:r>
              <a:rPr lang="en-US" dirty="0"/>
              <a:t> in a parallel, distributed array, making it one of the first large-scale digital neuromorphic chips.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Features</a:t>
            </a:r>
            <a:r>
              <a:rPr lang="en-US" dirty="0"/>
              <a:t>: Designed for pattern recognition and low-power processing, </a:t>
            </a:r>
            <a:r>
              <a:rPr lang="en-US" dirty="0" err="1"/>
              <a:t>TrueNorth</a:t>
            </a:r>
            <a:r>
              <a:rPr lang="en-US" dirty="0"/>
              <a:t> can handle complex tasks with a fraction of the energy used by traditional processors.</a:t>
            </a:r>
          </a:p>
          <a:p>
            <a:pPr marL="0" indent="0">
              <a:buNone/>
            </a:pPr>
            <a:r>
              <a:rPr lang="en-US" b="1" dirty="0"/>
              <a:t>2. Intel’s </a:t>
            </a:r>
            <a:r>
              <a:rPr lang="en-US" b="1" dirty="0" err="1"/>
              <a:t>Loihi</a:t>
            </a:r>
            <a:r>
              <a:rPr lang="en-US" b="1" dirty="0"/>
              <a:t> Chip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Scalable Architecture</a:t>
            </a:r>
            <a:r>
              <a:rPr lang="en-US" dirty="0"/>
              <a:t>: Supports </a:t>
            </a:r>
            <a:r>
              <a:rPr lang="en-US" b="1" dirty="0"/>
              <a:t>up to 16 million neurons</a:t>
            </a:r>
            <a:r>
              <a:rPr lang="en-US" dirty="0"/>
              <a:t> and includes on-chip learning capabilities, allowing it to adapt and learn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Benefits</a:t>
            </a:r>
            <a:r>
              <a:rPr lang="en-US" dirty="0"/>
              <a:t>: </a:t>
            </a:r>
            <a:r>
              <a:rPr lang="en-US" dirty="0" err="1"/>
              <a:t>Loihi</a:t>
            </a:r>
            <a:r>
              <a:rPr lang="en-US" dirty="0"/>
              <a:t> is energy-efficient, scalable, and ideal for tasks requiring continuous learning and adaptability, such as robotics and autonomous navigation.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085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E888-FB97-BF7E-DD4A-2D2335F8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381"/>
            <a:ext cx="10515600" cy="68663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Brain-Computer Interfaces (BCIs)</a:t>
            </a:r>
          </a:p>
          <a:p>
            <a:pPr marL="0" indent="0">
              <a:buNone/>
            </a:pPr>
            <a:r>
              <a:rPr lang="en-US" b="1" dirty="0"/>
              <a:t>1. Enhanced Signal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Neuromorphic Strengths</a:t>
            </a:r>
            <a:r>
              <a:rPr lang="en-US" dirty="0"/>
              <a:t>: Neuromorphic systems are well-suited for interpreting complex brain signals, improving the accuracy and efficiency of BCIs.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BCIs for prosthetics can use neuromorphic chips to translate brain activity into more natural and precise movements</a:t>
            </a:r>
          </a:p>
          <a:p>
            <a:pPr marL="0" indent="0">
              <a:buNone/>
            </a:pPr>
            <a:r>
              <a:rPr lang="en-US" b="1" dirty="0"/>
              <a:t>2. Bidirectional Interfaces for Control and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Natural Interaction</a:t>
            </a:r>
            <a:r>
              <a:rPr lang="en-US" dirty="0"/>
              <a:t>: Neuromorphic systems can enable two-way communication between a human brain and a computer, allowing for feedback and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In medical applications, BCIs with bidirectional communication can provide sensory feedback to patients with prosthetics, improving control and comfort.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62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3531-9A6A-EE94-59D1-1A0C601EC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AF70-EE0C-C245-1E37-8E7B8067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0320"/>
            <a:ext cx="12192000" cy="1757680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Challenges, Future Directions, and Conclusion</a:t>
            </a:r>
            <a:endParaRPr lang="en-IN" sz="13800" b="1" dirty="0"/>
          </a:p>
        </p:txBody>
      </p:sp>
    </p:spTree>
    <p:extLst>
      <p:ext uri="{BB962C8B-B14F-4D97-AF65-F5344CB8AC3E}">
        <p14:creationId xmlns:p14="http://schemas.microsoft.com/office/powerpoint/2010/main" val="3754698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FB4E7-61F1-5B77-37F7-022B7D62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554" y="116378"/>
            <a:ext cx="11630891" cy="67416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Current Challenges</a:t>
            </a:r>
          </a:p>
          <a:p>
            <a:pPr marL="0" indent="0">
              <a:buNone/>
            </a:pPr>
            <a:r>
              <a:rPr lang="en-US" b="1" dirty="0"/>
              <a:t>1. Scaling and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Scaling Up Systems</a:t>
            </a:r>
            <a:r>
              <a:rPr lang="en-US" dirty="0"/>
              <a:t>: Creating large-scale neuromorphic systems with neuron counts approaching biological complexity is a major challenge, particularly in hardware fabrication.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Connectivity Issues</a:t>
            </a:r>
            <a:r>
              <a:rPr lang="en-US" dirty="0"/>
              <a:t>: Ensuring effective communication between vast numbers of neurons and synapses requires advances in chip design and interconnect technology​</a:t>
            </a:r>
          </a:p>
          <a:p>
            <a:pPr marL="0" indent="0">
              <a:buNone/>
            </a:pPr>
            <a:r>
              <a:rPr lang="en-US" b="1" dirty="0"/>
              <a:t>2. Programming Paradigms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Lack of Established Models</a:t>
            </a:r>
            <a:r>
              <a:rPr lang="en-US" dirty="0"/>
              <a:t>: Traditional programming methods do not easily translate to neuromorphic systems, necessitating new frameworks for asynchronous, spike-based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Tools and Languages</a:t>
            </a:r>
            <a:r>
              <a:rPr lang="en-US" dirty="0"/>
              <a:t>: Developing intuitive programming languages and tools specific to neuromorphic architectures is crucial for broader adoption</a:t>
            </a:r>
          </a:p>
          <a:p>
            <a:pPr marL="0" indent="0">
              <a:buNone/>
            </a:pPr>
            <a:r>
              <a:rPr lang="en-US" b="1" dirty="0"/>
              <a:t>3. Benchmarking and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Performance Metrics</a:t>
            </a:r>
            <a:r>
              <a:rPr lang="en-US" dirty="0"/>
              <a:t>: Neuromorphic systems need new performance benchmarks to properly evaluate their effectiveness compared to traditional computing.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Standardization</a:t>
            </a:r>
            <a:r>
              <a:rPr lang="en-US" dirty="0"/>
              <a:t>: Establishing standardized metrics is essential for fair comparison and continued progress in the field.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977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DE684-CD3D-BE72-B37B-557A635F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16378"/>
            <a:ext cx="11089178" cy="6916189"/>
          </a:xfrm>
        </p:spPr>
        <p:txBody>
          <a:bodyPr>
            <a:normAutofit/>
          </a:bodyPr>
          <a:lstStyle/>
          <a:p>
            <a:r>
              <a:rPr lang="en-US" b="1" dirty="0"/>
              <a:t>Future Directions in Research</a:t>
            </a:r>
          </a:p>
          <a:p>
            <a:pPr marL="0" indent="0">
              <a:buNone/>
            </a:pPr>
            <a:r>
              <a:rPr lang="en-US" b="1" dirty="0"/>
              <a:t>1. Advanced Programming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Spiking Neural Network Frameworks</a:t>
            </a:r>
            <a:r>
              <a:rPr lang="en-US" dirty="0"/>
              <a:t>: Further development of frameworks like </a:t>
            </a:r>
            <a:r>
              <a:rPr lang="en-US" b="1" dirty="0" err="1"/>
              <a:t>Nengo</a:t>
            </a:r>
            <a:r>
              <a:rPr lang="en-US" dirty="0"/>
              <a:t> and </a:t>
            </a:r>
            <a:r>
              <a:rPr lang="en-US" b="1" dirty="0"/>
              <a:t>Brian</a:t>
            </a:r>
            <a:r>
              <a:rPr lang="en-US" dirty="0"/>
              <a:t> can help bridge the gap between theoretical neuromorphic models and real-world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Event-Driven Programming</a:t>
            </a:r>
            <a:r>
              <a:rPr lang="en-US" dirty="0"/>
              <a:t>: Research into asynchronous programming models suited for event-driven architectures will improve neuromorphic software development​.</a:t>
            </a:r>
          </a:p>
          <a:p>
            <a:pPr marL="0" indent="0">
              <a:buNone/>
            </a:pPr>
            <a:r>
              <a:rPr lang="en-US" b="1" dirty="0"/>
              <a:t>2. New Learning Algorithms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Spike-Timing-Dependent Plasticity (STDP)</a:t>
            </a:r>
            <a:r>
              <a:rPr lang="en-US" dirty="0"/>
              <a:t>: STDP and other biologically inspired learning rules can enhance the adaptability of neuromorphic systems for unsupervised learning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Surrogate Gradient Methods</a:t>
            </a:r>
            <a:r>
              <a:rPr lang="en-US" dirty="0"/>
              <a:t>: Techniques like surrogate gradients may enable more effective supervised learning in spiking neural networks​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847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42598-FF8E-D506-B430-38064D772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"/>
            <a:ext cx="10515600" cy="7132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Conclusion and Future Prospects</a:t>
            </a:r>
          </a:p>
          <a:p>
            <a:pPr marL="0" indent="0">
              <a:buNone/>
            </a:pPr>
            <a:r>
              <a:rPr lang="en-US" b="1" dirty="0"/>
              <a:t>1. Summary of Neuromorphic Computing’s Potential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Transformative Shift</a:t>
            </a:r>
            <a:r>
              <a:rPr lang="en-US" dirty="0"/>
              <a:t>: Neuromorphic computing represents a major shift from traditional architectures, providing solutions for high-efficiency, adaptive, and real-time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Diverse Applications</a:t>
            </a:r>
            <a:r>
              <a:rPr lang="en-US" dirty="0"/>
              <a:t>: Potential impact in fields like AI, robotics, autonomous systems, healthcare, and environmental monitoring.</a:t>
            </a:r>
          </a:p>
          <a:p>
            <a:pPr marL="0" indent="0">
              <a:buNone/>
            </a:pPr>
            <a:r>
              <a:rPr lang="en-US" b="1" dirty="0"/>
              <a:t>2. Long-Term Implications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Shaping the Future of Technology</a:t>
            </a:r>
            <a:r>
              <a:rPr lang="en-US" dirty="0"/>
              <a:t>: As neuromorphic technologies mature, they will likely drive advancements across multiple domains, enabling intelligent systems capable of complex decision-making and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Interdisciplinary Collaboration</a:t>
            </a:r>
            <a:r>
              <a:rPr lang="en-US" dirty="0"/>
              <a:t>: Continued growth in neuromorphic computing will require collaboration between fields like neuroscience, engineering, computer science, and materials science.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570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5AB640-6D6F-DCF9-D219-B25473F7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558096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1390</Words>
  <Application>Microsoft Office PowerPoint</Application>
  <PresentationFormat>Widescreen</PresentationFormat>
  <Paragraphs>100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Theme</vt:lpstr>
      <vt:lpstr>Neuromorphic Computing: An In-Depth Exploration</vt:lpstr>
      <vt:lpstr>Introduction</vt:lpstr>
      <vt:lpstr>PowerPoint Presentation</vt:lpstr>
      <vt:lpstr>PowerPoint Presentation</vt:lpstr>
      <vt:lpstr>Historical Context and Theoretical Foundations</vt:lpstr>
      <vt:lpstr>PowerPoint Presentation</vt:lpstr>
      <vt:lpstr>PowerPoint Presentation</vt:lpstr>
      <vt:lpstr>Principles of Neuromorphic Computing</vt:lpstr>
      <vt:lpstr>PowerPoint Presentation</vt:lpstr>
      <vt:lpstr>PowerPoint Presentation</vt:lpstr>
      <vt:lpstr>PowerPoint Presentation</vt:lpstr>
      <vt:lpstr>PowerPoint Presentation</vt:lpstr>
      <vt:lpstr>Hardware Implementations and Applications</vt:lpstr>
      <vt:lpstr>PowerPoint Presentation</vt:lpstr>
      <vt:lpstr>PowerPoint Presentation</vt:lpstr>
      <vt:lpstr>Challenges, Future Directions, and Conclusion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22BCG10026</dc:creator>
  <cp:lastModifiedBy>22BCG10026</cp:lastModifiedBy>
  <cp:revision>2</cp:revision>
  <dcterms:created xsi:type="dcterms:W3CDTF">2024-11-13T20:38:26Z</dcterms:created>
  <dcterms:modified xsi:type="dcterms:W3CDTF">2024-11-14T12:16:36Z</dcterms:modified>
</cp:coreProperties>
</file>